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1325880"/>
            <a:ext cx="34747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83879" y="1645920"/>
            <a:ext cx="137160" cy="3383280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0" y="1965960"/>
            <a:ext cx="137160" cy="2743200"/>
          </a:xfrm>
          <a:prstGeom prst="rect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23960" y="2331720"/>
            <a:ext cx="137160" cy="2011680"/>
          </a:xfrm>
          <a:prstGeom prst="rect">
            <a:avLst/>
          </a:prstGeom>
          <a:solidFill>
            <a:srgbClr val="F4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6583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849"/>
                </a:solidFill>
                <a:latin typeface="Microsoft YaHei"/>
              </a:rPr>
              <a:t>AI 编程在技术团队中的高效落地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66BD8"/>
                </a:solidFill>
                <a:latin typeface="Microsoft YaHei"/>
              </a:rPr>
              <a:t>能力边界、使用模式与场景实战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576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面向企业研发、网络攻防、大模型研发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部门内部 AI 编程培训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关键词：效率 / 质量 / 可控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760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7A"/>
                </a:solidFill>
                <a:latin typeface="Microsoft YaHei"/>
              </a:rPr>
              <a:t>讲师 / 部门 / 日期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645920"/>
            <a:ext cx="1828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32849"/>
                </a:solidFill>
                <a:latin typeface="Microsoft YaHei"/>
              </a:rPr>
              <a:t>效率</a:t>
            </a:r>
          </a:p>
          <a:p>
            <a:pPr algn="l"/>
            <a:r>
              <a:rPr sz="2000" b="1">
                <a:solidFill>
                  <a:srgbClr val="132849"/>
                </a:solidFill>
                <a:latin typeface="Microsoft YaHei"/>
              </a:rPr>
              <a:t>质量</a:t>
            </a:r>
          </a:p>
          <a:p>
            <a:pPr algn="l"/>
            <a:r>
              <a:rPr sz="2000" b="1">
                <a:solidFill>
                  <a:srgbClr val="F4833B"/>
                </a:solidFill>
                <a:latin typeface="Microsoft YaHei"/>
              </a:rPr>
              <a:t>可控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为什么现在必须系统谈 AI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趋势共识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9692640" cy="54864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2907792"/>
            <a:ext cx="310896" cy="310896"/>
          </a:xfrm>
          <a:prstGeom prst="ellipse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148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32849"/>
                </a:solidFill>
                <a:latin typeface="Microsoft YaHei"/>
              </a:rPr>
              <a:t>过去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832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6707A"/>
                </a:solidFill>
                <a:latin typeface="Microsoft YaHei"/>
              </a:rPr>
              <a:t>代码补全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2907792"/>
            <a:ext cx="310896" cy="310896"/>
          </a:xfrm>
          <a:prstGeom prst="ellipse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148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32849"/>
                </a:solidFill>
                <a:latin typeface="Microsoft YaHei"/>
              </a:rPr>
              <a:t>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3832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6707A"/>
                </a:solidFill>
                <a:latin typeface="Microsoft YaHei"/>
              </a:rPr>
              <a:t>协作开发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0" y="2907792"/>
            <a:ext cx="310896" cy="310896"/>
          </a:xfrm>
          <a:prstGeom prst="ellipse">
            <a:avLst/>
          </a:prstGeom>
          <a:solidFill>
            <a:srgbClr val="F4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48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32849"/>
                </a:solidFill>
                <a:latin typeface="Microsoft YaHei"/>
              </a:rPr>
              <a:t>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3832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6707A"/>
                </a:solidFill>
                <a:latin typeface="Microsoft YaHei"/>
              </a:rPr>
              <a:t>代理执行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未来效率差距，更多取决于任务拆解、上下文提供、结果校验这三件事。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AI 编程到底强在哪，弱在哪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能力边界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3474720" cy="109728"/>
          </a:xfrm>
          <a:prstGeom prst="rect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很强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3218688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脚本编写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独立模块开发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测试代码生成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文档生成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重复性重构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5544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554480"/>
            <a:ext cx="3474720" cy="1097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可用但需约束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212848"/>
            <a:ext cx="3218688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已有规范下的功能迭代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前后端联调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存量系统局部改造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5544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554480"/>
            <a:ext cx="3474720" cy="109728"/>
          </a:xfrm>
          <a:prstGeom prst="rect">
            <a:avLst/>
          </a:prstGeom>
          <a:solidFill>
            <a:srgbClr val="F4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高风险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212848"/>
            <a:ext cx="3218688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需求本身含糊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复杂历史系统隐性规则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缺少验证机制的高风险改动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AI 最擅长在边界清楚的任务里高速产出，不擅长替你做业务判断。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为什么大家在企业项目里反而不敢放开用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真实顾虑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3474720" cy="109728"/>
          </a:xfrm>
          <a:prstGeom prst="rect">
            <a:avLst/>
          </a:prstGeom>
          <a:solidFill>
            <a:srgbClr val="F4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担心改坏现有功能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32186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企业系统牵一发而动全身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代码背后是流程、权限、数据口径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55448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554480"/>
            <a:ext cx="3474720" cy="1097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业务理解不完整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212848"/>
            <a:ext cx="32186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真实规则不只在文档里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很多默认共识藏在历史实现里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55448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554480"/>
            <a:ext cx="3474720" cy="109728"/>
          </a:xfrm>
          <a:prstGeom prst="rect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代码业务含义不够深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212848"/>
            <a:ext cx="32186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很多逻辑是历史妥协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AI 能解释结构，不一定理解为什么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企业项目不是不能用 AI，而是不能用“无上下文、无约束、无验证”的 AI。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企业项目里，正确的 AI 编程观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方法论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356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149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从“让 AI 直接写”转向“让 AI 在可控边界内协作”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AI 不是替代业务理解的人，而是放大研发产能的系统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风险越高的任务，越需要更完整上下文、更细粒度拆解、更明确规则、更强验证机制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1005840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366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849"/>
                </a:solidFill>
                <a:latin typeface="Microsoft YaHei"/>
              </a:rPr>
              <a:t>AI 编程效果 = 上下文质量 × 任务拆解质量 × 约束质量 × 校验质量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关键不是让 AI 写得多快，而是让它在你能兜底的范围内写得足够快。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不同角色，要找到不同的 AI 编码模式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角色打法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企业项目研发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重点：稳、准、可回归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最适合：局部代工、测试护栏、最小改动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7373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网络攻防 / 漏洞挖掘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20391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重点：脚本效率、分析辅助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最适合：PoC 样板、解析脚本、日志处理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576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7947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大模型研发 / 平台工程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0965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重点：实验基础设施、评测自动化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最适合：数据脚本、pipeline glue code、服务封装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6576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37947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非技术同事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40965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重点：理解能力边界与协作方式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最需要知道：AI 快，但不替代责任判断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企业研发最值得掌握的 4 种 AI 编码模式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研发实践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新功能脚手架模式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页面骨架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接口定义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测试样板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7373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局部模块代工模式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20391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独立组件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工具函数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适配层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576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7947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带约束的存量修改模式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0965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写清楚哪些不能改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写清楚哪些行为必须保持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6576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3794760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测试先行护栏模式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4096512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先补测试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再改实现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13C4A"/>
                </a:solidFill>
                <a:latin typeface="Microsoft YaHei"/>
              </a:rPr>
              <a:t>适合老系统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62356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企业项目里，AI 写代码前的准备动作，往往比生成动作更重要。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企业研发的推荐工作流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安全落地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9032" y="2057400"/>
            <a:ext cx="438912" cy="438912"/>
          </a:xfrm>
          <a:prstGeom prst="ellipse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213969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1472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849"/>
                </a:solidFill>
                <a:latin typeface="Microsoft YaHei"/>
              </a:rPr>
              <a:t>明确边界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87168" y="2788920"/>
            <a:ext cx="128016" cy="256032"/>
          </a:xfrm>
          <a:prstGeom prst="rightArrow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242316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73552" y="2057400"/>
            <a:ext cx="438912" cy="438912"/>
          </a:xfrm>
          <a:prstGeom prst="ellipse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213969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697480"/>
            <a:ext cx="1472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849"/>
                </a:solidFill>
                <a:latin typeface="Microsoft YaHei"/>
              </a:rPr>
              <a:t>补充上下文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61688" y="2788920"/>
            <a:ext cx="128016" cy="256032"/>
          </a:xfrm>
          <a:prstGeom prst="rightArrow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242316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48072" y="2057400"/>
            <a:ext cx="438912" cy="438912"/>
          </a:xfrm>
          <a:prstGeom prst="ellipse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213969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697480"/>
            <a:ext cx="1472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849"/>
                </a:solidFill>
                <a:latin typeface="Microsoft YaHei"/>
              </a:rPr>
              <a:t>标注禁区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36208" y="2788920"/>
            <a:ext cx="128016" cy="256032"/>
          </a:xfrm>
          <a:prstGeom prst="rightArrow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42316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22592" y="2057400"/>
            <a:ext cx="438912" cy="438912"/>
          </a:xfrm>
          <a:prstGeom prst="ellipse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1464" y="213969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697480"/>
            <a:ext cx="1472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849"/>
                </a:solidFill>
                <a:latin typeface="Microsoft YaHei"/>
              </a:rPr>
              <a:t>先出方案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110728" y="2788920"/>
            <a:ext cx="128016" cy="256032"/>
          </a:xfrm>
          <a:prstGeom prst="rightArrow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242316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97112" y="2057400"/>
            <a:ext cx="438912" cy="438912"/>
          </a:xfrm>
          <a:prstGeom prst="ellipse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213969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697480"/>
            <a:ext cx="1472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849"/>
                </a:solidFill>
                <a:latin typeface="Microsoft YaHei"/>
              </a:rPr>
              <a:t>小步改动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985248" y="2788920"/>
            <a:ext cx="128016" cy="256032"/>
          </a:xfrm>
          <a:prstGeom prst="rightArrow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49840" y="2423160"/>
            <a:ext cx="1691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71632" y="2057400"/>
            <a:ext cx="438912" cy="438912"/>
          </a:xfrm>
          <a:prstGeom prst="ellipse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90504" y="213969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8" y="2697480"/>
            <a:ext cx="1472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849"/>
                </a:solidFill>
                <a:latin typeface="Microsoft YaHei"/>
              </a:rPr>
              <a:t>验证兜底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最危险的不是 AI 写得慢，而是把未确认的理解直接变成已提交的代码。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前端实操：从需求到页面骨架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教程示例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440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440680" cy="502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27048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32849"/>
                </a:solidFill>
                <a:latin typeface="Microsoft YaHei"/>
              </a:rPr>
              <a:t>推荐步骤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5074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先拆需求：页面结构、交互行为、状态管理、接口依赖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把项目里的组件规范、路由方式、请求封装喂给 AI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先让 AI 输出页面拆分方案和接口清单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确认后再生成首版代码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417320"/>
            <a:ext cx="5440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417320"/>
            <a:ext cx="5440680" cy="502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27048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32849"/>
                </a:solidFill>
                <a:latin typeface="Microsoft YaHei"/>
              </a:rPr>
              <a:t>示例提示词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03120"/>
            <a:ext cx="5074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355080" y="1965960"/>
            <a:ext cx="4754880" cy="3154680"/>
          </a:xfrm>
          <a:prstGeom prst="roundRect">
            <a:avLst/>
          </a:prstGeom>
          <a:solidFill>
            <a:srgbClr val="FBFD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07568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66BD8"/>
                </a:solidFill>
                <a:latin typeface="Consolas"/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377440"/>
            <a:ext cx="4434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你现在是这个前端项目的协作开发者。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请基于现有项目规范，完成一个新页面的首版实现方案。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目标页面：风险告警列表页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技术栈：React + TypeScript + Ant Design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要求：优先复用已有组件；先输出页面拆分、状态设计、接口清单；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标出需要我补充的业务规则；我确认后再输出代码。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后端实操：新接口 / 老系统改造怎么更安全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教程示例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440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5440680" cy="502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72768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32849"/>
                </a:solidFill>
                <a:latin typeface="Microsoft YaHei"/>
              </a:rPr>
              <a:t>新接口开发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074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先给 AI 明确输入输出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补充实体定义、异常规范、日志要求、幂等要求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先让 AI 出接口设计和边界场景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确认后再生成代码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463040"/>
            <a:ext cx="5440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463040"/>
            <a:ext cx="5440680" cy="502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72768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32849"/>
                </a:solidFill>
                <a:latin typeface="Microsoft YaHei"/>
              </a:rPr>
              <a:t>老系统改造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48840"/>
            <a:ext cx="5074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先让 AI 解释现有逻辑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识别关键分支和隐性规则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先补测试或回归样例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再做最小改动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257800"/>
            <a:ext cx="10424160" cy="868680"/>
          </a:xfrm>
          <a:prstGeom prst="roundRect">
            <a:avLst/>
          </a:prstGeom>
          <a:solidFill>
            <a:srgbClr val="FBFD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5367528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66BD8"/>
                </a:solidFill>
                <a:latin typeface="Consolas"/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5669280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请先不要写代码，先分析这段 service：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1. 用业务语言解释它在做什么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2. 标出关键分支和可能代表的业务规则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3. 识别哪些行为必须保持不变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4. 给出最小改动方案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13C4A"/>
                </a:solidFill>
                <a:latin typeface="Consolas"/>
              </a:rPr>
              <a:t>5. 列出建议补充的测试用例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攻防与大模型研发，最适合把 AI 用在哪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专项场景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440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440680" cy="502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27048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32849"/>
                </a:solidFill>
                <a:latin typeface="Microsoft YaHei"/>
              </a:rPr>
              <a:t>网络攻防 / 漏洞挖掘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5074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PoC / Exp 样板生成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协议解析脚本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日志分析与批量数据清洗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漏洞复盘文档整理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417320"/>
            <a:ext cx="5440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417320"/>
            <a:ext cx="5440680" cy="502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27048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32849"/>
                </a:solidFill>
                <a:latin typeface="Microsoft YaHei"/>
              </a:rPr>
              <a:t>大模型研发 / 平台工程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03120"/>
            <a:ext cx="5074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数据处理脚本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训练 / 推理 pipeline glue code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评测脚本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13C4A"/>
                </a:solidFill>
                <a:latin typeface="Microsoft YaHei"/>
              </a:rPr>
              <a:t>服务封装与部署脚本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AI 更像高效副驾，擅长加速执行，不替代关键判断。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提示词、skills、rules，怎么配合使用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协作机制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3474720" cy="109728"/>
          </a:xfrm>
          <a:prstGeom prst="rect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32186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这次要干什么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定义目标、上下文、约束、输出格式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55448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554480"/>
            <a:ext cx="3474720" cy="1097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212848"/>
            <a:ext cx="32186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这一类任务通常怎么干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把高频套路沉淀成可复用方法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55448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554480"/>
            <a:ext cx="3474720" cy="109728"/>
          </a:xfrm>
          <a:prstGeom prst="rect">
            <a:avLst/>
          </a:prstGeom>
          <a:solidFill>
            <a:srgbClr val="F4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556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849"/>
                </a:solidFill>
                <a:latin typeface="Microsoft YaHei"/>
              </a:rP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212848"/>
            <a:ext cx="32186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哪些事情永远不能乱干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修改老逻辑前先解释现状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高风险改动先补测试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1005840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366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849"/>
                </a:solidFill>
                <a:latin typeface="Microsoft YaHei"/>
              </a:rPr>
              <a:t>好提示词结构 = 背景 + 目标 + 上下文 + 约束 + 输出格式 + 验证要求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怎么让 AI 更懂你的企业项目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上下文建设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32849"/>
                </a:solidFill>
                <a:latin typeface="Microsoft YaHei"/>
              </a:rPr>
              <a:t>给 AI 的上下文，至少要包含：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需求背景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业务流程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涉及模块与职责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核心实体 / 字段含义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接口契约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历史限制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不允许破坏的行为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13C4A"/>
                </a:solidFill>
                <a:latin typeface="Microsoft YaHei"/>
              </a:rPr>
              <a:t>✓ 现有测试与验证方式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4709160" cy="33832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2062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32849"/>
                </a:solidFill>
                <a:latin typeface="Microsoft YaHei"/>
              </a:rPr>
              <a:t>上下文不是可有可无的补充，</a:t>
            </a:r>
          </a:p>
          <a:p>
            <a:pPr algn="ctr"/>
            <a:r>
              <a:rPr sz="1700" b="1">
                <a:solidFill>
                  <a:srgbClr val="132849"/>
                </a:solidFill>
                <a:latin typeface="Microsoft YaHei"/>
              </a:rPr>
              <a:t>而是企业级 AI 编程的基础设施。</a:t>
            </a:r>
          </a:p>
          <a:p>
            <a:pPr algn="ctr"/>
            <a:r>
              <a:rPr sz="1400" b="0">
                <a:solidFill>
                  <a:srgbClr val="313C4A"/>
                </a:solidFill>
                <a:latin typeface="Microsoft YaHei"/>
              </a:rPr>
              <a:t/>
            </a:r>
          </a:p>
          <a:p>
            <a:pPr algn="ctr"/>
            <a:r>
              <a:rPr sz="1400" b="0">
                <a:solidFill>
                  <a:srgbClr val="313C4A"/>
                </a:solidFill>
                <a:latin typeface="Microsoft YaHei"/>
              </a:rPr>
              <a:t>你给 AI 的企业上下文越完整，</a:t>
            </a:r>
          </a:p>
          <a:p>
            <a:pPr algn="ctr"/>
            <a:r>
              <a:rPr sz="1400" b="0">
                <a:solidFill>
                  <a:srgbClr val="313C4A"/>
                </a:solidFill>
                <a:latin typeface="Microsoft YaHei"/>
              </a:rPr>
              <a:t>它的输出就越接近“能被采用的工程产出”。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不要期待 AI 天然理解企业项目，应该主动把企业上下文变成 AI 可消费的材料。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对团队的真正价值，不只是“写代码更快”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组织价值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49527" y="1828800"/>
            <a:ext cx="9692640" cy="658368"/>
          </a:xfrm>
          <a:prstGeom prst="round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效率价值：减少样板劳动 / 缩短启动时间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047" y="2633472"/>
            <a:ext cx="8229600" cy="658368"/>
          </a:xfrm>
          <a:prstGeom prst="roundRect">
            <a:avLst/>
          </a:prstGeom>
          <a:solidFill>
            <a:srgbClr val="36A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质量价值：更快补测试 / 更快补文档 / 覆盖边界场景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567" y="3438144"/>
            <a:ext cx="6766560" cy="658368"/>
          </a:xfrm>
          <a:prstGeom prst="roundRect">
            <a:avLst/>
          </a:prstGeom>
          <a:solidFill>
            <a:srgbClr val="5F9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知识价值：帮新人理解代码 / 沉淀可复用方法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4087" y="4242816"/>
            <a:ext cx="5303520" cy="658368"/>
          </a:xfrm>
          <a:prstGeom prst="roundRect">
            <a:avLst/>
          </a:prstGeom>
          <a:solidFill>
            <a:srgbClr val="F4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组织价值：倒逼规范化 / 上下文显性化 / 流程标准化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40680"/>
            <a:ext cx="10515600" cy="64008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AI 编程的长期收益，不只是快，而是把高手经验逐步模板化、制度化。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91440" cy="566928"/>
          </a:xfrm>
          <a:prstGeom prst="rect">
            <a:avLst/>
          </a:prstGeom>
          <a:solidFill>
            <a:srgbClr val="366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32849"/>
                </a:solidFill>
                <a:latin typeface="Microsoft YaHei"/>
              </a:rPr>
              <a:t>落地建议 + 收尾金句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731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7A"/>
                </a:solidFill>
                <a:latin typeface="Microsoft YaHei"/>
              </a:rPr>
              <a:t>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57432" cy="18288"/>
          </a:xfrm>
          <a:prstGeom prst="rect">
            <a:avLst/>
          </a:prstGeom>
          <a:solidFill>
            <a:srgbClr val="DB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356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149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1. 从脚本、测试、独立模块开始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2. 每个人先找到自己最顺手的 2-3 个场景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3. 团队沉淀提示词模板、skills、rules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13C4A"/>
                </a:solidFill>
                <a:latin typeface="Microsoft YaHei"/>
              </a:rPr>
              <a:t>4. 逐步接入需求分析、自测、文档、评审准备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03520"/>
            <a:ext cx="10515600" cy="731520"/>
          </a:xfrm>
          <a:prstGeom prst="roundRect">
            <a:avLst/>
          </a:prstGeom>
          <a:solidFill>
            <a:srgbClr val="F5F8FC"/>
          </a:solidFill>
          <a:ln>
            <a:solidFill>
              <a:srgbClr val="DB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32849"/>
                </a:solidFill>
                <a:latin typeface="Microsoft YaHei"/>
              </a:rPr>
              <a:t>AI 编程不会替代真正理解业务的人，但会迅速放大那些会定义问题、会约束任务、会验证结果的人。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