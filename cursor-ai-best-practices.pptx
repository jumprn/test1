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内部分享 / AI 编程实践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7132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7EF0C2"/>
                </a:solidFill>
              </a:rPr>
              <a:t>Cursor 场景下的 AI 编程最佳实践</a:t>
            </a:r>
          </a:p>
          <a:p>
            <a:pPr>
              <a:spcBef>
                <a:spcPts val="1400"/>
              </a:spcBef>
            </a:pPr>
            <a:r>
              <a:rPr sz="2800" b="1">
                <a:solidFill>
                  <a:srgbClr val="EEF2FF"/>
                </a:solidFill>
              </a:rPr>
              <a:t>把 AI 从“补全工具”升级为
可协作的研发搭档</a:t>
            </a:r>
          </a:p>
          <a:p>
            <a:pPr>
              <a:spcBef>
                <a:spcPts val="1400"/>
              </a:spcBef>
            </a:pPr>
            <a:r>
              <a:rPr sz="1600">
                <a:solidFill>
                  <a:srgbClr val="B8C1E6"/>
                </a:solidFill>
              </a:rPr>
              <a:t>目标：帮助团队形成一套能稳定产出、可控风险、可复制推广的 AI 编程工作方式，而不是只停留在“偶尔让 AI 帮我写点代码”。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251960"/>
            <a:ext cx="1234440" cy="384048"/>
          </a:xfrm>
          <a:prstGeom prst="roundRect">
            <a:avLst/>
          </a:prstGeom>
          <a:solidFill>
            <a:srgbClr val="162346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EEF2FF"/>
                </a:solidFill>
              </a:rPr>
              <a:t>需求澄清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84832" y="4251960"/>
            <a:ext cx="1234440" cy="384048"/>
          </a:xfrm>
          <a:prstGeom prst="roundRect">
            <a:avLst/>
          </a:prstGeom>
          <a:solidFill>
            <a:srgbClr val="162346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EEF2FF"/>
                </a:solidFill>
              </a:rPr>
              <a:t>代码探索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4251960"/>
            <a:ext cx="1600200" cy="384048"/>
          </a:xfrm>
          <a:prstGeom prst="roundRect">
            <a:avLst/>
          </a:prstGeom>
          <a:solidFill>
            <a:srgbClr val="162346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EEF2FF"/>
                </a:solidFill>
              </a:rPr>
              <a:t>实现与重构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8656" y="4251960"/>
            <a:ext cx="1600200" cy="384048"/>
          </a:xfrm>
          <a:prstGeom prst="roundRect">
            <a:avLst/>
          </a:prstGeom>
          <a:solidFill>
            <a:srgbClr val="162346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EEF2FF"/>
                </a:solidFill>
              </a:rPr>
              <a:t>测试与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13448" y="4251960"/>
            <a:ext cx="1234440" cy="384048"/>
          </a:xfrm>
          <a:prstGeom prst="roundRect">
            <a:avLst/>
          </a:prstGeom>
          <a:solidFill>
            <a:srgbClr val="162346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EEF2FF"/>
                </a:solidFill>
              </a:rPr>
              <a:t>团队规范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1325880"/>
            <a:ext cx="3429000" cy="274320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554480"/>
            <a:ext cx="2971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EF2FF"/>
                </a:solidFill>
              </a:rPr>
              <a:t>好的 AI 编程结果，通常不是来自“更会问一句话”，
而是来自更好的上下文、拆解、约束与验证。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建议时长：30-40 分钟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为什么值得系统化使用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AI 编程的价值，不只是“写得更快”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2240280" cy="233172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11680"/>
            <a:ext cx="19202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6EA8FE"/>
                </a:solidFill>
              </a:rPr>
              <a:t>1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EEF2FF"/>
                </a:solidFill>
              </a:rPr>
              <a:t>降低启动成本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B8C1E6"/>
                </a:solidFill>
              </a:rPr>
              <a:t>新任务、新语言、新模块更容易起步。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240280" cy="233172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2011680"/>
            <a:ext cx="19202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6EA8FE"/>
                </a:solidFill>
              </a:rPr>
              <a:t>2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EEF2FF"/>
                </a:solidFill>
              </a:rPr>
              <a:t>扩大个体能力边界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B8C1E6"/>
                </a:solidFill>
              </a:rPr>
              <a:t>一个人可以兼顾实现、测试、文档、脚本。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828800"/>
            <a:ext cx="2240280" cy="233172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2011680"/>
            <a:ext cx="19202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6EA8FE"/>
                </a:solidFill>
              </a:rPr>
              <a:t>3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EEF2FF"/>
                </a:solidFill>
              </a:rPr>
              <a:t>提升交付吞吐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B8C1E6"/>
                </a:solidFill>
              </a:rPr>
              <a:t>尤其适合样板代码、重构、批量修改、测试补齐。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828800"/>
            <a:ext cx="2240280" cy="233172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00032" y="2011680"/>
            <a:ext cx="19202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6EA8FE"/>
                </a:solidFill>
              </a:rPr>
              <a:t>4</a:t>
            </a:r>
          </a:p>
          <a:p>
            <a:pPr>
              <a:spcBef>
                <a:spcPts val="600"/>
              </a:spcBef>
            </a:pPr>
            <a:r>
              <a:rPr sz="1500" b="1">
                <a:solidFill>
                  <a:srgbClr val="EEF2FF"/>
                </a:solidFill>
              </a:rPr>
              <a:t>倒逼工程规范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B8C1E6"/>
                </a:solidFill>
              </a:rPr>
              <a:t>上下文清晰、测试充分、结构良好的仓库更容易被 AI 利用。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5166360"/>
            <a:ext cx="10972800" cy="91440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5294376"/>
            <a:ext cx="105704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EF2FF"/>
                </a:solidFill>
              </a:rPr>
              <a:t>核心判断：AI 最适合解决“信息量大、模式重复、需要快速试错”的研发活动；最不适合“关键业务决策、隐式规则很多、验收标准不明确”的任务。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关键结论：AI 不是替代工程能力，而是放大工程能力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Cursor 的定位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在 Cursor 里，建议把 AI 当成 4 类角色使用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484632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75104"/>
            <a:ext cx="4517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1. 探索员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4517136" cy="7223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快速扫描代码库、定位入口、解释调用链、总结模块职责。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828800"/>
            <a:ext cx="484632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5352" y="1975104"/>
            <a:ext cx="4517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2. 实现助手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2304288"/>
            <a:ext cx="4517136" cy="7223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按明确边界完成函数、组件、接口、迁移脚本、测试代码。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657600"/>
            <a:ext cx="484632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3803904"/>
            <a:ext cx="4517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3. 评审员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133088"/>
            <a:ext cx="4517136" cy="7223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对 diff 做风险扫描，找潜在 bug、回归点、边界条件、缺失测试。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3657600"/>
            <a:ext cx="484632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3803904"/>
            <a:ext cx="4517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4. 教练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33088"/>
            <a:ext cx="4517136" cy="7223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解释陌生代码、给出重构思路、比较方案、补齐知识盲区。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440680"/>
            <a:ext cx="10972800" cy="749808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5568696"/>
            <a:ext cx="1057046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EF2FF"/>
                </a:solidFill>
              </a:rPr>
              <a:t>最低效的方式：把 Cursor 当“更高级的自动补全”。更高效的方式：让它参与需求理解、方案拆解、实现、验证和复盘的完整链路。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角色切换越清晰，产出越稳定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最佳实践总原则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先给原则，再谈技巧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3154680" cy="15544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2834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EF0C2"/>
                </a:solidFill>
              </a:rPr>
              <a:t>原则 1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2FF"/>
                </a:solidFill>
              </a:rPr>
              <a:t>先对齐任务，再开始写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8C1E6"/>
                </a:solidFill>
              </a:rPr>
              <a:t>明确目标、范围、约束、验收标准。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828800"/>
            <a:ext cx="3154680" cy="15544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938528"/>
            <a:ext cx="2834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EF0C2"/>
                </a:solidFill>
              </a:rPr>
              <a:t>原则 2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2FF"/>
                </a:solidFill>
              </a:rPr>
              <a:t>优先给上下文，不要只给指令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8C1E6"/>
                </a:solidFill>
              </a:rPr>
              <a:t>让 AI 看到正确文件、接口、报错和已有模式。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828800"/>
            <a:ext cx="3154680" cy="15544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938528"/>
            <a:ext cx="2834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EF0C2"/>
                </a:solidFill>
              </a:rPr>
              <a:t>原则 3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2FF"/>
                </a:solidFill>
              </a:rPr>
              <a:t>任务拆小，快速验证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8C1E6"/>
                </a:solidFill>
              </a:rPr>
              <a:t>减少大段自动生成后难以审查和回滚的风险。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749039"/>
            <a:ext cx="3154680" cy="15544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58768"/>
            <a:ext cx="2834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EF0C2"/>
                </a:solidFill>
              </a:rPr>
              <a:t>原则 4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2FF"/>
                </a:solidFill>
              </a:rPr>
              <a:t>让 AI 解释自己的修改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8C1E6"/>
                </a:solidFill>
              </a:rPr>
              <a:t>要求列出改动点、影响面、未覆盖风险。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3749039"/>
            <a:ext cx="3154680" cy="15544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3858768"/>
            <a:ext cx="2834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EF0C2"/>
                </a:solidFill>
              </a:rPr>
              <a:t>原则 5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2FF"/>
                </a:solidFill>
              </a:rPr>
              <a:t>人负责验收和决策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8C1E6"/>
                </a:solidFill>
              </a:rPr>
              <a:t>AI 可以生成，但不拥有上线决策权。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3749039"/>
            <a:ext cx="3154680" cy="15544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3858768"/>
            <a:ext cx="28346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7EF0C2"/>
                </a:solidFill>
              </a:rPr>
              <a:t>原则 6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EEF2FF"/>
                </a:solidFill>
              </a:rPr>
              <a:t>把高质量提示词沉淀成团队资产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B8C1E6"/>
                </a:solidFill>
              </a:rPr>
              <a:t>让最佳实践可复制、可推广。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经验：AI 编程的上限，常常取决于人的任务设计能力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工作流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从模糊需求到可执行任务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目标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我要解决什么业务问题？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2331720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范围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改哪些模块？不改哪些模块？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2331720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约束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语言、接口、兼容性、性能要求。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7" y="2331720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验收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测试、日志、页面、接口返回标准。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2331720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行动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先分析，再提方案，再实现。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03320"/>
            <a:ext cx="10972800" cy="2057400"/>
          </a:xfrm>
          <a:prstGeom prst="roundRect">
            <a:avLst/>
          </a:prstGeom>
          <a:solidFill>
            <a:srgbClr val="070C1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877056"/>
            <a:ext cx="1056132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>
                <a:solidFill>
                  <a:srgbClr val="EEF2FF"/>
                </a:solidFill>
                <a:latin typeface="Courier New"/>
              </a:rPr>
              <a:t>建议先这样问 Cursor：
“你先不要写代码。请基于当前仓库帮我完成 3 件事：
1. 找出和这个需求最相关的文件与调用链；
2. 给出最小改动方案；
3. 列出可能影响的测试点和风险点。
需求目标：...
改动范围：...
不要改动：...
验收标准：...”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先分析再实现，能显著减少“写出来但不对”的返工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工作流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优先让 AI “读代码”，再让 AI “写代码”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5212080" cy="288036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75104"/>
            <a:ext cx="4882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推荐做法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4882896" cy="22768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先让 Cursor 总结模块职责、入口函数、关键数据流。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要求引用具体文件和函数，而不是泛泛解释。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让 AI 用现有代码风格完成实现，而不是凭空创造新模式。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要求它说明为什么选这个修改点而不是别处。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828800"/>
            <a:ext cx="5212080" cy="2880360"/>
          </a:xfrm>
          <a:prstGeom prst="roundRect">
            <a:avLst/>
          </a:prstGeom>
          <a:solidFill>
            <a:srgbClr val="121C38"/>
          </a:solidFill>
          <a:ln>
            <a:solidFill>
              <a:srgbClr val="F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975104"/>
            <a:ext cx="48828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8A8A"/>
                </a:solidFill>
              </a:rPr>
              <a:t>常见问题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304288"/>
            <a:ext cx="4882896" cy="22768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没有给上下文，AI 按通用经验瞎猜。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一次贴太多无关文件，核心信息被稀释。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没要求它引用证据，回答听起来合理但脱离仓库实际。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直接让它重构大片代码，最后人无法 Review。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5166360"/>
            <a:ext cx="10972800" cy="91440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5294376"/>
            <a:ext cx="105704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EF2FF"/>
                </a:solidFill>
              </a:rPr>
              <a:t>一个非常有效的习惯：先问“仓库里现在是怎么做的”，再问“这次我应该怎么改”。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正确上下文 &gt; 华丽提示词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工作流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用“小步快跑”替代“一次生成一大坨”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3429000" cy="146304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75104"/>
            <a:ext cx="30998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步骤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3099816" cy="8595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先让 AI 只做方案和影响分析，确认改动边界。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429000" cy="146304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975104"/>
            <a:ext cx="309981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步骤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04288"/>
            <a:ext cx="3099816" cy="8595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一次只改一个文件或一个子问题，方便人类 Review。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1828800"/>
            <a:ext cx="3383280" cy="1463040"/>
          </a:xfrm>
          <a:prstGeom prst="roundRect">
            <a:avLst/>
          </a:prstGeom>
          <a:solidFill>
            <a:srgbClr val="121C38"/>
          </a:solidFill>
          <a:ln>
            <a:solidFill>
              <a:srgbClr val="FFD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48471" y="1975104"/>
            <a:ext cx="305409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6E"/>
                </a:solidFill>
              </a:rPr>
              <a:t>步骤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304288"/>
            <a:ext cx="3054096" cy="8595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每轮修改后立刻跑测试、lint、编译或关键路径验证。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657600"/>
            <a:ext cx="1645920" cy="5029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场景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3657600"/>
            <a:ext cx="3886200" cy="5029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不推荐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657600"/>
            <a:ext cx="5257800" cy="5029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更推荐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279392"/>
            <a:ext cx="164592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功能开发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80" y="4279392"/>
            <a:ext cx="388620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“把整个需求都实现了”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4279392"/>
            <a:ext cx="525780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“先补接口层，再补 service，再补测试”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901183"/>
            <a:ext cx="164592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Bug 修复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68880" y="4901183"/>
            <a:ext cx="388620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“帮我修掉这个问题”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901183"/>
            <a:ext cx="525780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“先定位根因，再给最小修复 diff”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522976"/>
            <a:ext cx="164592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重构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68880" y="5522976"/>
            <a:ext cx="388620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一次性批量重写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5522976"/>
            <a:ext cx="5257800" cy="512064"/>
          </a:xfrm>
          <a:prstGeom prst="roundRect">
            <a:avLst/>
          </a:prstGeom>
          <a:solidFill>
            <a:srgbClr val="121C38"/>
          </a:solidFill>
          <a:ln>
            <a:solidFill>
              <a:srgbClr val="162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B8C1E6"/>
                </a:solidFill>
              </a:rPr>
              <a:t>“分批迁移，每批可回滚、有测试覆盖”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AI 越强，越要控制改动粒度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工作流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让 AI 先写“验证方式”，再写实现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验证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先设计测试或验证清单。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2331720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覆盖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正常路径、边界、异常、回归。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27448" y="2331720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定位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确认现有代码为什么失败。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7" y="2331720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方案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给出最小修复方案。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08008" y="2331720"/>
            <a:ext cx="256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55480" y="1828800"/>
            <a:ext cx="1874519" cy="141732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1938528"/>
            <a:ext cx="1600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EF2FF"/>
                </a:solidFill>
              </a:rPr>
              <a:t>落地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B8C1E6"/>
                </a:solidFill>
              </a:rPr>
              <a:t>修复后补齐测试。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03320"/>
            <a:ext cx="10972800" cy="2057400"/>
          </a:xfrm>
          <a:prstGeom prst="roundRect">
            <a:avLst/>
          </a:prstGeom>
          <a:solidFill>
            <a:srgbClr val="070C1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877056"/>
            <a:ext cx="10561320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>
                <a:solidFill>
                  <a:srgbClr val="EEF2FF"/>
                </a:solidFill>
                <a:latin typeface="Courier New"/>
              </a:rPr>
              <a:t>可复用提示词：
“请先不要修改生产代码，先基于当前实现补充或设计测试用例：
- 正常路径
- 边界条件
- 异常分支
- 回归风险
然后告诉我：
1. 现有代码为什么会失败；
2. 最小修复方案是什么；
3. 修复后需要补哪些测试。”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如果你不知道怎么验证，通常也不该让 AI 直接开始写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Prompt 模板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3 个最常用、最值得团队复用的 Prompt 模板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3474720" cy="22402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75104"/>
            <a:ext cx="31455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模板 1：代码探索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3145536" cy="16367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请阅读相关文件，告诉我入口、调用链、关键数据结构、改动建议，并引用具体文件位置。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74720" cy="224028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975104"/>
            <a:ext cx="31455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模板 2：最小改动实现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304288"/>
            <a:ext cx="3145536" cy="16367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基于现有风格完成最小改动，不额外引入新框架，修改后总结影响面并列出验证步骤。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28800"/>
            <a:ext cx="3474720" cy="2240280"/>
          </a:xfrm>
          <a:prstGeom prst="roundRect">
            <a:avLst/>
          </a:prstGeom>
          <a:solidFill>
            <a:srgbClr val="121C38"/>
          </a:solidFill>
          <a:ln>
            <a:solidFill>
              <a:srgbClr val="FFD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975104"/>
            <a:ext cx="31455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6E"/>
                </a:solidFill>
              </a:rPr>
              <a:t>模板 3：Review / 风险扫描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304288"/>
            <a:ext cx="3145536" cy="16367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请站在 reviewer 视角检查这次 diff，优先找 bug、回归风险、缺失测试，不要只总结改了什么。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754880"/>
            <a:ext cx="10972800" cy="10515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882896"/>
            <a:ext cx="10570464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EF2FF"/>
                </a:solidFill>
              </a:rPr>
              <a:t>模板设计建议：固定 5 个槽位——目标 / 上下文 / 约束 / 输出格式 / 验收标准。这样每个人都能把 AI 用法标准化，不依赖“某个高手会问”。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提示词不是玄学，模板化后就是团队方法论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上下文管理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在 Cursor 中，真正拉开差距的是上下文管理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5303520" cy="301752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75104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高质量上下文应该包含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4974336" cy="2414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当前目标和背景：为什么要改。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相关文件与错误信息：而不是只贴结论。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已有实现模式：类似模块、历史方案、命名规范。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边界和禁区：哪些地方不能改、不能破坏什么。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验证标准：测试、运行、页面、日志、性能。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28800"/>
            <a:ext cx="5303520" cy="301752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975104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实操建议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304288"/>
            <a:ext cx="4974336" cy="24140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长对话中及时重置上下文，避免历史噪音污染当前任务。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复杂任务把分析、实现、Review 分成多个对话阶段。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发现 AI 偏题时，先补上下文或缩小任务。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对关键结论要求引用代码证据和文件位置。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一个经验：越复杂的需求，越要像写需求文档一样写给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Review 与风险控制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把 AI 用在 Review，通常是投入产出比最高的环节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3474720" cy="1417320"/>
          </a:xfrm>
          <a:prstGeom prst="roundRect">
            <a:avLst/>
          </a:prstGeom>
          <a:solidFill>
            <a:srgbClr val="121C38"/>
          </a:solidFill>
          <a:ln>
            <a:solidFill>
              <a:srgbClr val="F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75104"/>
            <a:ext cx="31455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8A8A"/>
                </a:solidFill>
              </a:rPr>
              <a:t>检查 bug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3145536" cy="8138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空指针、未处理异常、并发问题、状态遗漏、边界条件漏掉。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74720" cy="1417320"/>
          </a:xfrm>
          <a:prstGeom prst="roundRect">
            <a:avLst/>
          </a:prstGeom>
          <a:solidFill>
            <a:srgbClr val="121C38"/>
          </a:solidFill>
          <a:ln>
            <a:solidFill>
              <a:srgbClr val="FFD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1975104"/>
            <a:ext cx="31455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6E"/>
                </a:solidFill>
              </a:rPr>
              <a:t>检查回归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304288"/>
            <a:ext cx="3145536" cy="8138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公共接口是否变更、老逻辑是否被破坏、兼容性是否受影响。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828800"/>
            <a:ext cx="3474720" cy="141732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975104"/>
            <a:ext cx="31455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检查测试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304288"/>
            <a:ext cx="3145536" cy="8138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关键路径是否覆盖、失败场景是否覆盖、断言是否足够严格。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657600"/>
            <a:ext cx="10972800" cy="1828800"/>
          </a:xfrm>
          <a:prstGeom prst="roundRect">
            <a:avLst/>
          </a:prstGeom>
          <a:solidFill>
            <a:srgbClr val="070C1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822191"/>
            <a:ext cx="1056132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r>
              <a:rPr sz="1300">
                <a:solidFill>
                  <a:srgbClr val="EEF2FF"/>
                </a:solidFill>
              </a:rPr>
              <a:t>Review 提示词建议：
“请用 code review 的方式审查这次改动：
- 优先指出可能的 bug、风险和行为变化；
- 标注影响文件或逻辑点；
- 判断是否缺失测试；
- 如果没有明显问题，也请说明仍然存在的测试盲区。
不要只复述改动内容。”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优秀团队不是“少写错”，而是“更快发现错”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团队治理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如果要规模化落地，需要建立 4 个团队机制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484632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75104"/>
            <a:ext cx="4517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机制 1：提示词模板库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4517136" cy="7223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沉淀探索、实现、测试、Review、文档等常用模板。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828800"/>
            <a:ext cx="484632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5352" y="1975104"/>
            <a:ext cx="4517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机制 2：AI 使用边界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2304288"/>
            <a:ext cx="4517136" cy="7223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明确哪些代码、数据、密钥、客户信息不能放进上下文。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657600"/>
            <a:ext cx="484632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3803904"/>
            <a:ext cx="4517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机制 3：验收标准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133088"/>
            <a:ext cx="4517136" cy="7223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AI 生成代码必须过测试、lint、编译、Review，不得跳过工程门禁。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3657600"/>
            <a:ext cx="484632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3803904"/>
            <a:ext cx="45171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机制 4：案例复盘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33088"/>
            <a:ext cx="4517136" cy="72237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定期复盘高价值用例和失败案例，让方法论持续进化。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394960"/>
            <a:ext cx="10972800" cy="749808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5522976"/>
            <a:ext cx="1057046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EF2FF"/>
                </a:solidFill>
              </a:rPr>
              <a:t>团队采用 AI 编程，不是“装个工具”就结束了，而是一次研发工作流升级。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规模化效果 = 工具能力 × 工程规范 × 团队习惯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常见误区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最容易让团队“用了 AI 但没得到收益”的 6 个误区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315468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F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D76E"/>
                </a:solidFill>
              </a:rPr>
              <a:t>误区 1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8C1E6"/>
                </a:solidFill>
              </a:rPr>
              <a:t>把 AI 当搜索引擎，问泛问题，不给仓库上下文。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828800"/>
            <a:ext cx="315468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F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97096" y="1938528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D76E"/>
                </a:solidFill>
              </a:rPr>
              <a:t>误区 2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8C1E6"/>
                </a:solidFill>
              </a:rPr>
              <a:t>一次性让 AI 改太多，导致 Review 和回滚成本过高。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828800"/>
            <a:ext cx="315468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F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71816" y="1938528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D76E"/>
                </a:solidFill>
              </a:rPr>
              <a:t>误区 3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8C1E6"/>
                </a:solidFill>
              </a:rPr>
              <a:t>只看它能不能生成，不看生成后是否可验证、可维护。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657600"/>
            <a:ext cx="315468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F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3767328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D76E"/>
                </a:solidFill>
              </a:rPr>
              <a:t>误区 4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8C1E6"/>
                </a:solidFill>
              </a:rPr>
              <a:t>把 AI 输出直接当事实，不要求引用仓库证据。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69080" y="3657600"/>
            <a:ext cx="315468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F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7096" y="3767328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D76E"/>
                </a:solidFill>
              </a:rPr>
              <a:t>误区 5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8C1E6"/>
                </a:solidFill>
              </a:rPr>
              <a:t>没有沉淀复用模板，每个人都从零摸索。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3657600"/>
            <a:ext cx="3154680" cy="1325880"/>
          </a:xfrm>
          <a:prstGeom prst="roundRect">
            <a:avLst/>
          </a:prstGeom>
          <a:solidFill>
            <a:srgbClr val="121C38"/>
          </a:solidFill>
          <a:ln>
            <a:solidFill>
              <a:srgbClr val="FF8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71816" y="3767328"/>
            <a:ext cx="283464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D76E"/>
                </a:solidFill>
              </a:rPr>
              <a:t>误区 6</a:t>
            </a:r>
          </a:p>
          <a:p>
            <a:pPr>
              <a:spcBef>
                <a:spcPts val="500"/>
              </a:spcBef>
            </a:pPr>
            <a:r>
              <a:rPr sz="1150">
                <a:solidFill>
                  <a:srgbClr val="B8C1E6"/>
                </a:solidFill>
              </a:rPr>
              <a:t>忽略安全边界，把不该暴露的信息交给 AI 上下文。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结论：AI 编程失败，通常不是因为模型不够强，而是流程设计不到位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建议现场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分享时，推荐演示 1 个完整闭环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20240"/>
            <a:ext cx="1874519" cy="150876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66544"/>
            <a:ext cx="154533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95728"/>
            <a:ext cx="1545335" cy="9052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给出一个真实需求或 bug。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7168" y="2487168"/>
            <a:ext cx="23774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920240"/>
            <a:ext cx="1874519" cy="150876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2066544"/>
            <a:ext cx="154533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395728"/>
            <a:ext cx="1545335" cy="9052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先让 Cursor 分析代码与定位影响点。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7448" y="2487168"/>
            <a:ext cx="23774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920240"/>
            <a:ext cx="1874519" cy="150876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9512" y="2066544"/>
            <a:ext cx="154533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Step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9512" y="2395728"/>
            <a:ext cx="1545335" cy="9052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再让它提出最小改动方案。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2487168"/>
            <a:ext cx="23774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874519" cy="150876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9792" y="2066544"/>
            <a:ext cx="154533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Step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2395728"/>
            <a:ext cx="1545335" cy="9052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分步实现，并跑验证命令。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8008" y="2487168"/>
            <a:ext cx="23774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6EA8FE"/>
                </a:solidFill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1920240"/>
            <a:ext cx="1874519" cy="150876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20072" y="2066544"/>
            <a:ext cx="1545335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Step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2395728"/>
            <a:ext cx="1545335" cy="9052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最后让 AI 站在 reviewer 视角复查。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251960"/>
            <a:ext cx="10972800" cy="109728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4379976"/>
            <a:ext cx="1057046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EF2FF"/>
                </a:solidFill>
              </a:rPr>
              <a:t>不要演示“AI 一次写了很多代码”，而要演示“AI 如何帮助你更快做出正确决策、减少试错、补齐验证”。这才最容易让团队认同。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最佳 demo：一个真实小任务胜过十个空泛技巧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56032"/>
            <a:ext cx="2011680" cy="36576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EEF2FF"/>
                </a:solidFill>
              </a:rPr>
              <a:t>落地建议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5603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B8C1E6"/>
                </a:solidFill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41248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EEF2FF"/>
                </a:solidFill>
              </a:rPr>
              <a:t>结论与落地建议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5303520" cy="2377440"/>
          </a:xfrm>
          <a:prstGeom prst="roundRect">
            <a:avLst/>
          </a:prstGeom>
          <a:solidFill>
            <a:srgbClr val="121C38"/>
          </a:solidFill>
          <a:ln>
            <a:solidFill>
              <a:srgbClr val="7EF0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75104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EF0C2"/>
                </a:solidFill>
              </a:rPr>
              <a:t>今天希望带走的 3 个观点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4974336" cy="1773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AI 编程的关键不是“写得快”，而是“更快得到正确结果”。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Cursor 最好的用法，是把 AI 放进完整研发链路，而不是只做补全。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团队收益来自模板、流程、验证和复盘，而不是个人技巧。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828800"/>
            <a:ext cx="5303520" cy="2377440"/>
          </a:xfrm>
          <a:prstGeom prst="roundRect">
            <a:avLst/>
          </a:prstGeom>
          <a:solidFill>
            <a:srgbClr val="121C38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975104"/>
            <a:ext cx="497433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A8FE"/>
                </a:solidFill>
              </a:rPr>
              <a:t>建议下一步行动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2304288"/>
            <a:ext cx="4974336" cy="1773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挑 2-3 个真实场景做试点：Bug 修复、测试补齐、批量重构。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沉淀一套团队 Prompt 模板与安全边界。</a:t>
            </a:r>
          </a:p>
          <a:p>
            <a:pPr>
              <a:spcAft>
                <a:spcPts val="500"/>
              </a:spcAft>
            </a:pPr>
            <a:r>
              <a:rPr sz="1700">
                <a:solidFill>
                  <a:srgbClr val="B8C1E6"/>
                </a:solidFill>
              </a:rPr>
              <a:t>每周复盘“最好用”和“最翻车”的案例。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4937760"/>
            <a:ext cx="10972800" cy="868680"/>
          </a:xfrm>
          <a:prstGeom prst="roundRect">
            <a:avLst/>
          </a:prstGeom>
          <a:solidFill>
            <a:srgbClr val="162346"/>
          </a:solidFill>
          <a:ln>
            <a:solidFill>
              <a:srgbClr val="6EA8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5065776"/>
            <a:ext cx="10570464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EF2FF"/>
                </a:solidFill>
              </a:rPr>
              <a:t>Q&amp;A：我们不是在学习一个新工具，而是在学习一种新的研发协作方式。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400800"/>
            <a:ext cx="11338560" cy="18288"/>
          </a:xfrm>
          <a:prstGeom prst="rect">
            <a:avLst/>
          </a:prstGeom>
          <a:solidFill>
            <a:srgbClr val="162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446520"/>
            <a:ext cx="7772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B8C1E6"/>
                </a:solidFill>
              </a:rPr>
              <a:t>谢谢 / 可按公司案例继续替换内容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554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EEF2FF"/>
                </a:solidFill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