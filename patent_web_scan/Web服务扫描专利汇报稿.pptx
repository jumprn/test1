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" y="54000"/>
            <a:ext cx="1728000" cy="684000"/>
          </a:xfrm>
          <a:prstGeom prst="roundRect">
            <a:avLst/>
          </a:prstGeom>
          <a:solidFill>
            <a:srgbClr val="16387A"/>
          </a:solidFill>
          <a:ln>
            <a:solidFill>
              <a:srgbClr val="16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imHei"/>
              </a:rPr>
              <a:t>专利汇报</a:t>
            </a:r>
          </a:p>
          <a:p>
            <a:pPr algn="ctr"/>
            <a:r>
              <a:rPr sz="900">
                <a:solidFill>
                  <a:srgbClr val="DCE6FF"/>
                </a:solidFill>
                <a:latin typeface="SimSun"/>
              </a:rPr>
              <a:t>Web服务安全扫描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4000"/>
            <a:ext cx="12193200" cy="216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0" y="90000"/>
            <a:ext cx="648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EA580C"/>
                </a:solidFill>
                <a:latin typeface="SimHei"/>
              </a:rPr>
              <a:t>汇报提纲</a:t>
            </a:r>
          </a:p>
        </p:txBody>
      </p:sp>
      <p:sp>
        <p:nvSpPr>
          <p:cNvPr id="6" name="Hexagon 5"/>
          <p:cNvSpPr/>
          <p:nvPr/>
        </p:nvSpPr>
        <p:spPr>
          <a:xfrm>
            <a:off x="972000" y="1152000"/>
            <a:ext cx="792000" cy="612000"/>
          </a:xfrm>
          <a:prstGeom prst="hexagon">
            <a:avLst/>
          </a:prstGeom>
          <a:solidFill>
            <a:srgbClr val="0EA5E9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imHe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1458000"/>
            <a:ext cx="6480000" cy="18000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36000" y="1278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A93"/>
                </a:solidFill>
                <a:latin typeface="SimHei"/>
              </a:rPr>
              <a:t>专利背景</a:t>
            </a:r>
          </a:p>
        </p:txBody>
      </p:sp>
      <p:sp>
        <p:nvSpPr>
          <p:cNvPr id="9" name="Hexagon 8"/>
          <p:cNvSpPr/>
          <p:nvPr/>
        </p:nvSpPr>
        <p:spPr>
          <a:xfrm>
            <a:off x="972000" y="1890000"/>
            <a:ext cx="792000" cy="612000"/>
          </a:xfrm>
          <a:prstGeom prst="hexagon">
            <a:avLst/>
          </a:prstGeom>
          <a:solidFill>
            <a:srgbClr val="93C5FD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imHe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2000" y="2196000"/>
            <a:ext cx="6480000" cy="18000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36000" y="2016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A93"/>
                </a:solidFill>
                <a:latin typeface="SimHei"/>
              </a:rPr>
              <a:t>专利摘要</a:t>
            </a:r>
          </a:p>
        </p:txBody>
      </p:sp>
      <p:sp>
        <p:nvSpPr>
          <p:cNvPr id="12" name="Hexagon 11"/>
          <p:cNvSpPr/>
          <p:nvPr/>
        </p:nvSpPr>
        <p:spPr>
          <a:xfrm>
            <a:off x="972000" y="2628000"/>
            <a:ext cx="792000" cy="612000"/>
          </a:xfrm>
          <a:prstGeom prst="hexagon">
            <a:avLst/>
          </a:prstGeom>
          <a:solidFill>
            <a:srgbClr val="0EA5E9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imHe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2000" y="2934000"/>
            <a:ext cx="6480000" cy="18000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6000" y="2754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A93"/>
                </a:solidFill>
                <a:latin typeface="SimHei"/>
              </a:rPr>
              <a:t>系统方法说明</a:t>
            </a:r>
          </a:p>
        </p:txBody>
      </p:sp>
      <p:sp>
        <p:nvSpPr>
          <p:cNvPr id="15" name="Hexagon 14"/>
          <p:cNvSpPr/>
          <p:nvPr/>
        </p:nvSpPr>
        <p:spPr>
          <a:xfrm>
            <a:off x="972000" y="3366000"/>
            <a:ext cx="792000" cy="612000"/>
          </a:xfrm>
          <a:prstGeom prst="hexagon">
            <a:avLst/>
          </a:prstGeom>
          <a:solidFill>
            <a:srgbClr val="93C5FD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imHe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2000" y="3671999"/>
            <a:ext cx="6480000" cy="18000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36000" y="3491999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A93"/>
                </a:solidFill>
                <a:latin typeface="SimHei"/>
              </a:rPr>
              <a:t>新颖性说明</a:t>
            </a:r>
          </a:p>
        </p:txBody>
      </p:sp>
      <p:sp>
        <p:nvSpPr>
          <p:cNvPr id="18" name="Hexagon 17"/>
          <p:cNvSpPr/>
          <p:nvPr/>
        </p:nvSpPr>
        <p:spPr>
          <a:xfrm>
            <a:off x="972000" y="4104000"/>
            <a:ext cx="792000" cy="612000"/>
          </a:xfrm>
          <a:prstGeom prst="hexagon">
            <a:avLst/>
          </a:prstGeom>
          <a:solidFill>
            <a:srgbClr val="0EA5E9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imHe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2000" y="4410000"/>
            <a:ext cx="6480000" cy="18000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36000" y="4230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A93"/>
                </a:solidFill>
                <a:latin typeface="SimHei"/>
              </a:rPr>
              <a:t>创造性说明</a:t>
            </a:r>
          </a:p>
        </p:txBody>
      </p:sp>
      <p:sp>
        <p:nvSpPr>
          <p:cNvPr id="21" name="Hexagon 20"/>
          <p:cNvSpPr/>
          <p:nvPr/>
        </p:nvSpPr>
        <p:spPr>
          <a:xfrm>
            <a:off x="972000" y="4842000"/>
            <a:ext cx="792000" cy="612000"/>
          </a:xfrm>
          <a:prstGeom prst="hexagon">
            <a:avLst/>
          </a:prstGeom>
          <a:solidFill>
            <a:srgbClr val="93C5FD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imHei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2000" y="5148000"/>
            <a:ext cx="6480000" cy="18000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36000" y="4968000"/>
            <a:ext cx="43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A93"/>
                </a:solidFill>
                <a:latin typeface="SimHei"/>
              </a:rPr>
              <a:t>实用性说明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" y="54000"/>
            <a:ext cx="1728000" cy="684000"/>
          </a:xfrm>
          <a:prstGeom prst="roundRect">
            <a:avLst/>
          </a:prstGeom>
          <a:solidFill>
            <a:srgbClr val="16387A"/>
          </a:solidFill>
          <a:ln>
            <a:solidFill>
              <a:srgbClr val="16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imHei"/>
              </a:rPr>
              <a:t>专利汇报</a:t>
            </a:r>
          </a:p>
          <a:p>
            <a:pPr algn="ctr"/>
            <a:r>
              <a:rPr sz="900">
                <a:solidFill>
                  <a:srgbClr val="DCE6FF"/>
                </a:solidFill>
                <a:latin typeface="SimSun"/>
              </a:rPr>
              <a:t>Web服务安全扫描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4000"/>
            <a:ext cx="12193200" cy="216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0" y="90000"/>
            <a:ext cx="648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EA580C"/>
                </a:solidFill>
                <a:latin typeface="SimHei"/>
              </a:rPr>
              <a:t>专利介绍1：背景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900000"/>
            <a:ext cx="10368000" cy="5400000"/>
          </a:xfrm>
          <a:prstGeom prst="rect">
            <a:avLst/>
          </a:prstGeom>
          <a:noFill/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0800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项目来源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来源于企业级Web服务安全治理、攻防演练和持续漏洞运营场景。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面向门户网站、管理后台、微服务接口、单页应用和SaaS平台的自动化扫描需求。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5524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技术领域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网络安全检测、Web应用安全、自动化漏洞挖掘与安全运维。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尤其适用于复杂业务流、强状态依赖和多角色鉴权的Web服务环境。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40248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应用场景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日常漏洞巡检、重大活动前专项排查、上线前安全验收、修复后回归验证。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可与漏洞管理平台、CI/CD流水线、安全运营中心联动使用。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54972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解决的问题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传统扫描器对现代Web服务业务链理解不足，容易漏扫越权、逻辑缺陷等深层漏洞。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仅依赖单次回显或状态码判断，误报较多，且缺少修复后自动复测机制。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" y="54000"/>
            <a:ext cx="1728000" cy="684000"/>
          </a:xfrm>
          <a:prstGeom prst="roundRect">
            <a:avLst/>
          </a:prstGeom>
          <a:solidFill>
            <a:srgbClr val="16387A"/>
          </a:solidFill>
          <a:ln>
            <a:solidFill>
              <a:srgbClr val="16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imHei"/>
              </a:rPr>
              <a:t>专利汇报</a:t>
            </a:r>
          </a:p>
          <a:p>
            <a:pPr algn="ctr"/>
            <a:r>
              <a:rPr sz="900">
                <a:solidFill>
                  <a:srgbClr val="DCE6FF"/>
                </a:solidFill>
                <a:latin typeface="SimSun"/>
              </a:rPr>
              <a:t>Web服务安全扫描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4000"/>
            <a:ext cx="12193200" cy="216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0" y="90000"/>
            <a:ext cx="648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EA580C"/>
                </a:solidFill>
                <a:latin typeface="SimHei"/>
              </a:rPr>
              <a:t>专利介绍2：摘要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900000"/>
            <a:ext cx="10368000" cy="5400000"/>
          </a:xfrm>
          <a:prstGeom prst="rect">
            <a:avLst/>
          </a:prstGeom>
          <a:noFill/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0800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核心思想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先理解目标Web服务，再决定如何扫描、如何确认以及如何验证修复。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通过“语义建模 + 自适应扫描 + 回放验证”形成完整技术闭环。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552400"/>
            <a:ext cx="9792000" cy="156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方案摘要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系统首先采集页面、接口、脚本、鉴权和业务流信息，构建资产语义指纹。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随后自动生成令牌化交互沙箱和漏洞触发链，对复杂业务路径实施分层自适应扫描。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最后通过多源证据融合输出高置信结论，并在修复后自动回放验证，实现持续学习。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42840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预期效果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提高复杂业务漏洞发现能力，降低误报漏报。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将漏洞发现、修复确认和知识沉淀统一到同一平台流程中。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" y="54000"/>
            <a:ext cx="1728000" cy="684000"/>
          </a:xfrm>
          <a:prstGeom prst="roundRect">
            <a:avLst/>
          </a:prstGeom>
          <a:solidFill>
            <a:srgbClr val="16387A"/>
          </a:solidFill>
          <a:ln>
            <a:solidFill>
              <a:srgbClr val="16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imHei"/>
              </a:rPr>
              <a:t>专利汇报</a:t>
            </a:r>
          </a:p>
          <a:p>
            <a:pPr algn="ctr"/>
            <a:r>
              <a:rPr sz="900">
                <a:solidFill>
                  <a:srgbClr val="DCE6FF"/>
                </a:solidFill>
                <a:latin typeface="SimSun"/>
              </a:rPr>
              <a:t>Web服务安全扫描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4000"/>
            <a:ext cx="12193200" cy="216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0" y="90000"/>
            <a:ext cx="648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EA580C"/>
                </a:solidFill>
                <a:latin typeface="SimHei"/>
              </a:rPr>
              <a:t>专利介绍3-1：系统方法说明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900000"/>
            <a:ext cx="10368000" cy="5400000"/>
          </a:xfrm>
          <a:prstGeom prst="rect">
            <a:avLst/>
          </a:prstGeom>
          <a:noFill/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080000"/>
            <a:ext cx="9792000" cy="26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系统主要包括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资产语义指纹构建模块：采集页面、接口、脚本、鉴权及组件特征并生成服务画像。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令牌化交互沙箱模块：构建受控会话、测试令牌和可追踪业务数据。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扫描策略编排模块：根据目标画像和历史结果动态选择扫描路径与探针强度。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分层自适应扫描执行模块：对高风险页面、接口和对象执行差异化扫描。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多源证据融合模块：综合请求响应、DOM变化、日志和一致性结果判定漏洞。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风险知识图谱模块：维护资产、组件、漏洞类型及攻击路径之间的关联。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修复回放验证模块：在补丁上线后重放历史触发链，确认漏洞是否真正消除。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38484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系统输出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输出漏洞名称、影响范围、复现请求、证据链、修复建议和复测结论。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支持向漏洞管理平台、工单系统和持续交付平台同步结果。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" y="54000"/>
            <a:ext cx="1728000" cy="684000"/>
          </a:xfrm>
          <a:prstGeom prst="roundRect">
            <a:avLst/>
          </a:prstGeom>
          <a:solidFill>
            <a:srgbClr val="16387A"/>
          </a:solidFill>
          <a:ln>
            <a:solidFill>
              <a:srgbClr val="16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imHei"/>
              </a:rPr>
              <a:t>专利汇报</a:t>
            </a:r>
          </a:p>
          <a:p>
            <a:pPr algn="ctr"/>
            <a:r>
              <a:rPr sz="900">
                <a:solidFill>
                  <a:srgbClr val="DCE6FF"/>
                </a:solidFill>
                <a:latin typeface="SimSun"/>
              </a:rPr>
              <a:t>Web服务安全扫描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4000"/>
            <a:ext cx="12193200" cy="216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0" y="90000"/>
            <a:ext cx="648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EA580C"/>
                </a:solidFill>
                <a:latin typeface="SimHei"/>
              </a:rPr>
              <a:t>专利介绍3-2：系统方法说明（流程）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900000"/>
            <a:ext cx="10368000" cy="5400000"/>
          </a:xfrm>
          <a:prstGeom prst="rect">
            <a:avLst/>
          </a:prstGeom>
          <a:noFill/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007999"/>
            <a:ext cx="23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系统分析流程：</a:t>
            </a:r>
          </a:p>
        </p:txBody>
      </p:sp>
      <p:pic>
        <p:nvPicPr>
          <p:cNvPr id="8" name="Picture 7" descr="附图1_自适应闭环扫描总体流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296000"/>
            <a:ext cx="5112000" cy="29046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0000" y="1440000"/>
            <a:ext cx="3851999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步骤1-3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步骤1：采集目标Web服务的页面、接口、路由、鉴权和组件信息，生成资产语义指纹。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步骤2：构造令牌化交互沙箱与漏洞触发链，执行分层自适应扫描并完成多源证据确认。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步骤3：在修复后自动回放历史触发链，输出修复成功/不彻底/存在回归风险的结论。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0" y="3420000"/>
            <a:ext cx="3851999" cy="11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关键点A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理解业务上下文，不再只对URL和参数做静态探测。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对越权、逻辑缺陷、状态切换类问题可实施更精准检测。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4680000"/>
            <a:ext cx="3851999" cy="11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关键点B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扫描结果可以反向更新知识图谱和策略库，实现越用越准。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形成“识别—扫描—验证—学习”的闭环安全运营体系。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" y="54000"/>
            <a:ext cx="1728000" cy="684000"/>
          </a:xfrm>
          <a:prstGeom prst="roundRect">
            <a:avLst/>
          </a:prstGeom>
          <a:solidFill>
            <a:srgbClr val="16387A"/>
          </a:solidFill>
          <a:ln>
            <a:solidFill>
              <a:srgbClr val="16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imHei"/>
              </a:rPr>
              <a:t>专利汇报</a:t>
            </a:r>
          </a:p>
          <a:p>
            <a:pPr algn="ctr"/>
            <a:r>
              <a:rPr sz="900">
                <a:solidFill>
                  <a:srgbClr val="DCE6FF"/>
                </a:solidFill>
                <a:latin typeface="SimSun"/>
              </a:rPr>
              <a:t>Web服务安全扫描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4000"/>
            <a:ext cx="12193200" cy="216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0" y="90000"/>
            <a:ext cx="648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EA580C"/>
                </a:solidFill>
                <a:latin typeface="SimHei"/>
              </a:rPr>
              <a:t>专利介绍4：新颖性说明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900000"/>
            <a:ext cx="10368000" cy="5400000"/>
          </a:xfrm>
          <a:prstGeom prst="rect">
            <a:avLst/>
          </a:prstGeom>
          <a:noFill/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0800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检索与对比思路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可与传统规则扫描、爬虫式扫描、人工渗透辅助方案进行对比。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重点关注现有技术是否具备对业务语义理解、动态策略编排和修复回放闭环的统一实现。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552400"/>
            <a:ext cx="9792000" cy="156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本方案的新颖点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提出资产语义指纹，将页面结构、接口关系、鉴权状态和业务流特征联合建模。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提出令牌化交互沙箱，用受控方式模拟真实用户操作与多角色切换流程。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提出修复回放验证机制，使扫描系统具备漏洞修复后的自动复测和知识反哺能力。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42840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相对现有技术区别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现有技术通常止步于漏洞发现，本方案进一步覆盖漏洞确认和修复验证。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现有技术多基于静态规则，本方案可根据目标反馈实时调整扫描强度和路径。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" y="54000"/>
            <a:ext cx="1728000" cy="684000"/>
          </a:xfrm>
          <a:prstGeom prst="roundRect">
            <a:avLst/>
          </a:prstGeom>
          <a:solidFill>
            <a:srgbClr val="16387A"/>
          </a:solidFill>
          <a:ln>
            <a:solidFill>
              <a:srgbClr val="16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imHei"/>
              </a:rPr>
              <a:t>专利汇报</a:t>
            </a:r>
          </a:p>
          <a:p>
            <a:pPr algn="ctr"/>
            <a:r>
              <a:rPr sz="900">
                <a:solidFill>
                  <a:srgbClr val="DCE6FF"/>
                </a:solidFill>
                <a:latin typeface="SimSun"/>
              </a:rPr>
              <a:t>Web服务安全扫描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4000"/>
            <a:ext cx="12193200" cy="216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0" y="90000"/>
            <a:ext cx="648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EA580C"/>
                </a:solidFill>
                <a:latin typeface="SimHei"/>
              </a:rPr>
              <a:t>专利介绍5：创造性说明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900000"/>
            <a:ext cx="10368000" cy="5400000"/>
          </a:xfrm>
          <a:prstGeom prst="rect">
            <a:avLst/>
          </a:prstGeom>
          <a:noFill/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0800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相对现有技术的优势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把目标理解、路径构造、漏洞确认和修复验证连接为一体，不是简单的插件堆叠。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能够覆盖多步骤、强状态依赖、跨角色切换的复杂业务漏洞场景。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552400"/>
            <a:ext cx="9792000" cy="156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主要创造性体现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创造性一：将“资产语义指纹”作为扫描策略输入，使扫描行为具备上下文感知能力。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创造性二：将“令牌化交互沙箱”与“漏洞触发链”结合，使复杂业务动作可控、可追踪、可回放。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创造性三：将“多源证据融合”与“修复回放验证”并入同一技术链路，形成持续学习闭环。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4284000"/>
            <a:ext cx="9792000" cy="131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技术效果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提高深层漏洞发现能力，降低误报，提升结果可解释性。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使系统不仅能发现问题，还能验证修复是否有效，具备显著的实质性特点和进步。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" y="54000"/>
            <a:ext cx="1728000" cy="684000"/>
          </a:xfrm>
          <a:prstGeom prst="roundRect">
            <a:avLst/>
          </a:prstGeom>
          <a:solidFill>
            <a:srgbClr val="16387A"/>
          </a:solidFill>
          <a:ln>
            <a:solidFill>
              <a:srgbClr val="16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imHei"/>
              </a:rPr>
              <a:t>专利汇报</a:t>
            </a:r>
          </a:p>
          <a:p>
            <a:pPr algn="ctr"/>
            <a:r>
              <a:rPr sz="900">
                <a:solidFill>
                  <a:srgbClr val="DCE6FF"/>
                </a:solidFill>
                <a:latin typeface="SimSun"/>
              </a:rPr>
              <a:t>Web服务安全扫描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4000"/>
            <a:ext cx="12193200" cy="216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0" y="90000"/>
            <a:ext cx="648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EA580C"/>
                </a:solidFill>
                <a:latin typeface="SimHei"/>
              </a:rPr>
              <a:t>专利介绍6：实用性说明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900000"/>
            <a:ext cx="10368000" cy="5400000"/>
          </a:xfrm>
          <a:prstGeom prst="rect">
            <a:avLst/>
          </a:prstGeom>
          <a:noFill/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080000"/>
            <a:ext cx="4752000" cy="21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可应用场景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企业门户、运维后台、客户服务平台、政企SaaS系统、API网关、移动端后端服务。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适合日常巡检、等保整改、重大保障、上线前安全验收、修复后回归测试等场景。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3276000"/>
            <a:ext cx="4752000" cy="12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落地方式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可独立部署为Web安全扫描平台，也可与现有漏洞管理、工单和CI/CD系统集成。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支持按租户、按项目、按环境进行策略隔离和分级扫描。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4572000"/>
            <a:ext cx="4752000" cy="12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93"/>
                </a:solidFill>
                <a:latin typeface="SimHei"/>
              </a:rPr>
              <a:t>❖ 可能价值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提升安全团队对复杂Web资产的自动化治理能力，降低人工渗透成本。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387A"/>
                </a:solidFill>
                <a:latin typeface="SimSun"/>
              </a:rPr>
              <a:t>缩短漏洞发现到修复确认的周期，为企业持续安全运营提供可量化支撑。</a:t>
            </a:r>
          </a:p>
        </p:txBody>
      </p:sp>
      <p:pic>
        <p:nvPicPr>
          <p:cNvPr id="10" name="Picture 9" descr="附图2_资产语义建模与修复回放流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0" y="1512000"/>
            <a:ext cx="4608000" cy="26182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